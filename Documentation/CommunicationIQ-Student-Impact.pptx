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243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820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3291840" cy="345506"/>
          </a:xfrm>
          <a:prstGeom prst="rect">
            <a:avLst/>
          </a:prstGeom>
        </p:spPr>
      </p:pic>
      <p:pic>
        <p:nvPicPr>
          <p:cNvPr id="3" name="Image 1" descr="s_ti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00200"/>
            <a:ext cx="5417820" cy="2331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IQ in the Indian placement context — what actually goes wrong for students, and the exact mechanisms that fix it.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68580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IMPACT BRIEF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CONTEXT</a:t>
            </a:r>
            <a:endParaRPr lang="en-US" sz="1200" dirty="0"/>
          </a:p>
        </p:txBody>
      </p:sp>
      <p:pic>
        <p:nvPicPr>
          <p:cNvPr id="6" name="Image 1" descr="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597180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year, tier-2/3 engineering college. Regional-medium schooling. Often the first graduate in the family. Three years spent preparing for exactly two things: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85800" y="3429000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14400" y="342900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APTITUDE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657600" y="342900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practice, mock tests, coaching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35040" y="3429000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A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85800" y="4279392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914400" y="42793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/ DSA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57600" y="427939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problems, playbooks, CRT drills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035040" y="4279392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A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85800" y="5129784"/>
            <a:ext cx="6400800" cy="713232"/>
          </a:xfrm>
          <a:prstGeom prst="roundRect">
            <a:avLst>
              <a:gd name="adj" fmla="val 7692"/>
            </a:avLst>
          </a:prstGeom>
          <a:solidFill>
            <a:srgbClr val="17140F"/>
          </a:solidFill>
          <a:ln w="15875">
            <a:solidFill>
              <a:srgbClr val="FF2B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914400" y="512978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COMMUNICATION ROUND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657600" y="51297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exposure is the real test itself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035040" y="5129784"/>
            <a:ext cx="914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PREP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589520" y="237744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231207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7818120" y="2606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GATE APPEARS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7818120" y="301752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TCS, Infosys, Amazon and Accenture put an AI voice round in front of them — Pearson Versant, SHL SVAR, or Mercer | Mettl SpeechX.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mic, a countdown — and a format they have never seen in their lives.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818120" y="4983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many of them fail it.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FAILURE IS UNIQUELY CRUEL</a:t>
            </a:r>
            <a:endParaRPr lang="en-US" sz="1200" dirty="0"/>
          </a:p>
        </p:txBody>
      </p:sp>
      <p:pic>
        <p:nvPicPr>
          <p:cNvPr id="6" name="Image 1" descr="s_cru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3933056" cy="111117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5146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1440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IT'S INVISIBLE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14400" y="31546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rejection email says nothing. Pronunciation? Pace? Grammar? Hesitation? The student never finds out — so they can't fix it. They conclude “my English is bad”: a character verdict, not a diagnosis.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434840" y="25146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66344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IT'S UNTRAINABLE TODAY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663440" y="31546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college trainer runs group discussions for 40 students at once. Local spoken-English coaching costs ₹15–30K, teaches accent imitation, and has zero connection to how the algorithm scores. Apps teach vocabulary, not test survival.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83880" y="2514600"/>
            <a:ext cx="3520440" cy="2880360"/>
          </a:xfrm>
          <a:prstGeom prst="roundRect">
            <a:avLst>
              <a:gd name="adj" fmla="val 2540"/>
            </a:avLst>
          </a:prstGeom>
          <a:solidFill>
            <a:srgbClr val="17140F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8412480" y="27432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IT'S UNFAIR — IN A FIXABLE WAY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412480" y="315468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these students are perfectly intelligible. They fail on format shock — speed, memory load, latency under pressure — and 3–4 specific L1 habits. A narrow, trainable gap scored as a broad disqualification.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Cruelty № 3 is the business opportunity: a fixable gap nobody is fixing.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1200" dirty="0"/>
          </a:p>
        </p:txBody>
      </p:sp>
      <p:pic>
        <p:nvPicPr>
          <p:cNvPr id="6" name="Image 1" descr="s_misdi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382696" cy="111117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51460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6012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STUDENT BELIEVES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60120" y="3154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English is bad.”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60120" y="37490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Broad. Shameful. Feels unfixable before placement season. So they avoid speaking, avoid practice, and walk into the real test cold.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63640" y="251460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231207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537960" y="2743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ACTUALLY TRUE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537960" y="3154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9-point fluency gap. Two phoneme habits. Slow response latency.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40690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Narrow. Nameable. Closeable in ~12–18 targeted hours — not 200 hours of “English classes.” You can work on a measured gap. You cannot work on shame.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85800" y="56235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product does is one operation: </a:t>
            </a:r>
            <a:r>
              <a:rPr lang="en-US" sz="1500" b="1" dirty="0">
                <a:solidFill>
                  <a:srgbClr val="F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verdict with the diagnosis.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· COMMUNICATION IQ</a:t>
            </a:r>
            <a:endParaRPr lang="en-US" sz="1200" dirty="0"/>
          </a:p>
        </p:txBody>
      </p:sp>
      <p:pic>
        <p:nvPicPr>
          <p:cNvPr id="6" name="Image 1" descr="s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155292" cy="111117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514600"/>
            <a:ext cx="1965960" cy="731520"/>
          </a:xfrm>
          <a:prstGeom prst="chevron">
            <a:avLst/>
          </a:prstGeom>
          <a:solidFill>
            <a:srgbClr val="1E1913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822960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2907792" y="2514600"/>
            <a:ext cx="1965960" cy="731520"/>
          </a:xfrm>
          <a:prstGeom prst="chevron">
            <a:avLst/>
          </a:prstGeom>
          <a:solidFill>
            <a:srgbClr val="1E1913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3044952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129784" y="2514600"/>
            <a:ext cx="1965960" cy="731520"/>
          </a:xfrm>
          <a:prstGeom prst="chevron">
            <a:avLst/>
          </a:prstGeom>
          <a:solidFill>
            <a:srgbClr val="1E1913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266944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351776" y="2514600"/>
            <a:ext cx="1965960" cy="731520"/>
          </a:xfrm>
          <a:prstGeom prst="chevron">
            <a:avLst/>
          </a:prstGeom>
          <a:solidFill>
            <a:srgbClr val="1E1913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7488936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9573768" y="2514600"/>
            <a:ext cx="1965960" cy="731520"/>
          </a:xfrm>
          <a:prstGeom prst="chevron">
            <a:avLst/>
          </a:prstGeom>
          <a:solidFill>
            <a:srgbClr val="FF2B26"/>
          </a:solidFill>
          <a:ln w="12700">
            <a:solidFill>
              <a:srgbClr val="FF2B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9710928" y="2514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RESIMULATE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85800" y="3474720"/>
            <a:ext cx="10820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full-fidelity simulation of the assessment the student will actually face — timed, mic-driven, section by section — followed by a diagnosis of exactly what lost marks, targeted drills to fix it, and a re-simulation to prove the gap closed.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85800" y="4297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SIMULATION PROFILES OF THE GATES STUDENTS ACTUALLY FACE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85800" y="470916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E1913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85800" y="4709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Versant-style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807208" y="47091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E1913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2807208" y="47091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SVAR-style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08576" y="47091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1E1913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4608576" y="47091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Mercer | Mettl SpeechX-style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141464" y="470916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1E1913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7141464" y="47091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voice rounds (TCS · Infosys · Accenture)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85800" y="516636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E1913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685800" y="51663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interview English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“-style” is deliberate: </a:t>
            </a:r>
            <a:r>
              <a:rPr lang="en-US" sz="1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replicate the task formats, timing and pressure — never the vendors' proprietary items or algorithms.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SIMULATIONS, MAPPED</a:t>
            </a:r>
            <a:endParaRPr lang="en-US" sz="1200" dirty="0"/>
          </a:p>
        </p:txBody>
      </p:sp>
      <p:pic>
        <p:nvPicPr>
          <p:cNvPr id="6" name="Image 1" descr="s_simu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714092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 WE SIMULATE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93192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VERSANT-STYLE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4652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SVAR-STYLE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96112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SPEECHX-STYLE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2880360"/>
            <a:ext cx="10744200" cy="365760"/>
          </a:xfrm>
          <a:prstGeom prst="roundRect">
            <a:avLst>
              <a:gd name="adj" fmla="val 12500"/>
            </a:avLst>
          </a:prstGeom>
          <a:solidFill>
            <a:srgbClr val="1E1913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68680" y="28803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— read a passage into the mic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61204" y="2990088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575804" y="2990088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10090404" y="2990088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85800" y="3319272"/>
            <a:ext cx="10744200" cy="365760"/>
          </a:xfrm>
          <a:prstGeom prst="roundRect">
            <a:avLst>
              <a:gd name="adj" fmla="val 12500"/>
            </a:avLst>
          </a:prstGeom>
          <a:solidFill>
            <a:srgbClr val="17140F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868680" y="331927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Sentence — hear it once, say it back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61204" y="3429000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575804" y="3429000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9998964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85800" y="3758184"/>
            <a:ext cx="10744200" cy="365760"/>
          </a:xfrm>
          <a:prstGeom prst="roundRect">
            <a:avLst>
              <a:gd name="adj" fmla="val 12500"/>
            </a:avLst>
          </a:prstGeom>
          <a:solidFill>
            <a:srgbClr val="1E1913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868680" y="37581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Build — rearrange jumbled words, speak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061204" y="3867912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7484364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998964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85800" y="4197096"/>
            <a:ext cx="10744200" cy="365760"/>
          </a:xfrm>
          <a:prstGeom prst="roundRect">
            <a:avLst>
              <a:gd name="adj" fmla="val 12500"/>
            </a:avLst>
          </a:prstGeom>
          <a:solidFill>
            <a:srgbClr val="17140F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868680" y="41970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 Q&amp;A — comprehension under the clock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061204" y="4306824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7575804" y="4306824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10090404" y="4306824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685800" y="4636008"/>
            <a:ext cx="10744200" cy="365760"/>
          </a:xfrm>
          <a:prstGeom prst="roundRect">
            <a:avLst>
              <a:gd name="adj" fmla="val 12500"/>
            </a:avLst>
          </a:prstGeom>
          <a:solidFill>
            <a:srgbClr val="1E1913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868680" y="46360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Retell — listen, understand, retell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5061204" y="4745736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7484364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10090404" y="4745736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2"/>
          <p:cNvSpPr/>
          <p:nvPr/>
        </p:nvSpPr>
        <p:spPr>
          <a:xfrm>
            <a:off x="685800" y="5074920"/>
            <a:ext cx="10744200" cy="365760"/>
          </a:xfrm>
          <a:prstGeom prst="roundRect">
            <a:avLst>
              <a:gd name="adj" fmla="val 12500"/>
            </a:avLst>
          </a:prstGeom>
          <a:solidFill>
            <a:srgbClr val="17140F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868680" y="5074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Response — opinion / interview questions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061204" y="5184648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7484364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27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10090404" y="5184648"/>
            <a:ext cx="155448" cy="155448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/>
          <p:nvPr/>
        </p:nvSpPr>
        <p:spPr>
          <a:xfrm>
            <a:off x="685800" y="55961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environment itself: countdown timers, one-shot audio, mic capture flow, section pacing and no-replay pressure — the parts of the test nobody practices.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task types cover the spoken-assessment space. </a:t>
            </a:r>
            <a:r>
              <a:rPr lang="en-US" sz="1350" b="1" dirty="0">
                <a:solidFill>
                  <a:srgbClr val="F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test tomorrow = a new profile on the same engine, not a new product.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pic>
        <p:nvPicPr>
          <p:cNvPr id="6" name="Image 1" descr="s_clai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3467912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3774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the student speaks is decomposed into measurable evidence — the LLM is one component, never the judge: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5800" y="2880360"/>
            <a:ext cx="2533574" cy="123444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850392" y="3008376"/>
            <a:ext cx="2204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0392" y="3319272"/>
            <a:ext cx="2204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speech rate · pauses · rhythm · stress · intonation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47974" y="2880360"/>
            <a:ext cx="2533574" cy="123444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612566" y="3008376"/>
            <a:ext cx="2204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612566" y="3319272"/>
            <a:ext cx="2204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· vocabulary · complexity · coherence · relevance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0148" y="2880360"/>
            <a:ext cx="2533574" cy="123444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6374740" y="3008376"/>
            <a:ext cx="2204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PRONUNCIATION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374740" y="3319272"/>
            <a:ext cx="2204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phoneme accuracy · substitutions · stress errors · intelligibility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972321" y="2880360"/>
            <a:ext cx="2533574" cy="1234440"/>
          </a:xfrm>
          <a:prstGeom prst="roundRect">
            <a:avLst>
              <a:gd name="adj" fmla="val 4444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9136913" y="3008376"/>
            <a:ext cx="22043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9136913" y="3319272"/>
            <a:ext cx="220439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 · fillers · self-correction · response latency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85800" y="4343400"/>
            <a:ext cx="10820095" cy="685800"/>
          </a:xfrm>
          <a:prstGeom prst="roundRect">
            <a:avLst>
              <a:gd name="adj" fmla="val 8000"/>
            </a:avLst>
          </a:prstGeom>
          <a:solidFill>
            <a:srgbClr val="231207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960120" y="434340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INTELLIGENCE ENGINE   </a:t>
            </a: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those features into each test-style scoring scale — so a Versant-style simulation scores like Versant scores, not like a generic English app.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85800" y="5257800"/>
            <a:ext cx="10820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believe the scores? </a:t>
            </a: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Grounded in published phoneme-level pronunciation research and expert-labelled corpora (SpeechOcean762). (2) A calibrated item bank — every question carries difficulty, discrimination and Indian-learner statistics refined over thousands of attempts. (3) The closed loop: predictions are checked against real assessment results in our partner colleges, and recalibrated every season.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01</a:t>
            </a:r>
            <a:endParaRPr lang="en-US" sz="1200" dirty="0"/>
          </a:p>
        </p:txBody>
      </p:sp>
      <p:pic>
        <p:nvPicPr>
          <p:cNvPr id="6" name="Image 1" descr="s_diagno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2943332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simulation, first result screen. Not a number — an explanation.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85800" y="2880360"/>
            <a:ext cx="6583680" cy="2743200"/>
          </a:xfrm>
          <a:prstGeom prst="roundRect">
            <a:avLst>
              <a:gd name="adj" fmla="val 2667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60120" y="3081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RESULT — RAVI K., B.TECH FINAL YEAR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6012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560320" y="3575304"/>
            <a:ext cx="2011680" cy="164592"/>
          </a:xfrm>
          <a:prstGeom prst="rect">
            <a:avLst/>
          </a:prstGeom>
          <a:solidFill>
            <a:srgbClr val="1E1913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2560320" y="3575304"/>
            <a:ext cx="1569110" cy="164592"/>
          </a:xfrm>
          <a:prstGeom prst="rect">
            <a:avLst/>
          </a:prstGeom>
          <a:solidFill>
            <a:srgbClr val="22A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466344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12064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Fine. Stop worrying about it.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96012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Pronunciation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560320" y="4078224"/>
            <a:ext cx="2011680" cy="164592"/>
          </a:xfrm>
          <a:prstGeom prst="rect">
            <a:avLst/>
          </a:prstGeom>
          <a:solidFill>
            <a:srgbClr val="1E1913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2560320" y="4078224"/>
            <a:ext cx="1488643" cy="164592"/>
          </a:xfrm>
          <a:prstGeom prst="rect">
            <a:avLst/>
          </a:prstGeom>
          <a:solidFill>
            <a:srgbClr val="22A0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66344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12064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Intelligible. Two habits to polish.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960120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Fluency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560320" y="4581144"/>
            <a:ext cx="2011680" cy="164592"/>
          </a:xfrm>
          <a:prstGeom prst="rect">
            <a:avLst/>
          </a:prstGeom>
          <a:solidFill>
            <a:srgbClr val="1E1913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2560320" y="4581144"/>
            <a:ext cx="1227125" cy="164592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466344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120640" y="4480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biggest lever: +4 predicted points.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6012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speed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2560320" y="5084064"/>
            <a:ext cx="2011680" cy="164592"/>
          </a:xfrm>
          <a:prstGeom prst="rect">
            <a:avLst/>
          </a:prstGeom>
          <a:solidFill>
            <a:srgbClr val="1E1913"/>
          </a:solidFill>
          <a:ln w="635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2560320" y="5084064"/>
            <a:ext cx="1106424" cy="164592"/>
          </a:xfrm>
          <a:prstGeom prst="rect">
            <a:avLst/>
          </a:prstGeom>
          <a:solidFill>
            <a:srgbClr val="FF2B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4663440" y="4983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120640" y="4983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what's failing you — not your English.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635240" y="288036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231207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786384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CHANGES BEHAVIOUR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863840" y="35204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believed “my English is weak” now has a target: a 9-point fluency gap and a latency habit.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train a gap. You cannot train shame. Diagnosis alone converts avoidance into practice.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02</a:t>
            </a:r>
            <a:endParaRPr lang="en-US" sz="1200" dirty="0"/>
          </a:p>
        </p:txBody>
      </p:sp>
      <p:pic>
        <p:nvPicPr>
          <p:cNvPr id="6" name="Image 1" descr="s_dr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3907300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377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practice hour attacks the student's specific weakness — the loop that turns an assessment into a training engine: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85800" y="2971800"/>
            <a:ext cx="1755648" cy="1051560"/>
          </a:xfrm>
          <a:prstGeom prst="roundRect">
            <a:avLst>
              <a:gd name="adj" fmla="val 5217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822960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3410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Build task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2386584" y="32918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551176" y="2971800"/>
            <a:ext cx="1755648" cy="1051560"/>
          </a:xfrm>
          <a:prstGeom prst="roundRect">
            <a:avLst>
              <a:gd name="adj" fmla="val 5217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2688336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88336" y="3410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“Right words, wrong grammatical order”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251960" y="32918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416552" y="2971800"/>
            <a:ext cx="1755648" cy="1051560"/>
          </a:xfrm>
          <a:prstGeom prst="roundRect">
            <a:avLst>
              <a:gd name="adj" fmla="val 5217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4553712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53712" y="3410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similar sentences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117336" y="32918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81928" y="2971800"/>
            <a:ext cx="1755648" cy="1051560"/>
          </a:xfrm>
          <a:prstGeom prst="roundRect">
            <a:avLst>
              <a:gd name="adj" fmla="val 5217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419088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419088" y="3410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harder sentence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7982712" y="32918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147304" y="2971800"/>
            <a:ext cx="1755648" cy="1051560"/>
          </a:xfrm>
          <a:prstGeom prst="roundRect">
            <a:avLst>
              <a:gd name="adj" fmla="val 5217"/>
            </a:avLst>
          </a:prstGeom>
          <a:solidFill>
            <a:srgbClr val="17140F"/>
          </a:solidFill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8284464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284464" y="3410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 type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9848088" y="32918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10012680" y="2971800"/>
            <a:ext cx="1755648" cy="1051560"/>
          </a:xfrm>
          <a:prstGeom prst="roundRect">
            <a:avLst>
              <a:gd name="adj" fmla="val 5217"/>
            </a:avLst>
          </a:prstGeom>
          <a:solidFill>
            <a:srgbClr val="231207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10149840" y="309981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MASTERY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149840" y="3410712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→ 78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85800" y="4572000"/>
            <a:ext cx="10820095" cy="1234440"/>
          </a:xfrm>
          <a:prstGeom prst="roundRect">
            <a:avLst>
              <a:gd name="adj" fmla="val 5926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1005840" y="4572000"/>
            <a:ext cx="10180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THAT MAKES IT POSSIBLE
</a:t>
            </a:r>
            <a:r>
              <a:rPr lang="en-US" sz="13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Telugu-medium student doesn't need 200 hours of English classes — they need ~12–18 targeted hours on 2–3 skills. </a:t>
            </a:r>
            <a:r>
              <a:rPr lang="en-US" sz="1350" b="1" dirty="0">
                <a:solidFill>
                  <a:srgbClr val="F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“Improve your English” is impossible before placement season. “Close this gap in two weeks” is not.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03</a:t>
            </a:r>
            <a:endParaRPr lang="en-US" sz="1200" dirty="0"/>
          </a:p>
        </p:txBody>
      </p:sp>
      <p:pic>
        <p:nvPicPr>
          <p:cNvPr id="6" name="Image 1" descr="s_sh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191470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37744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failure in Versant/SVAR-style rounds is a student hearing “repeat the sentence” for the first time in the real test — speed, memory load and the countdown clock doing the damage, not English.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85800" y="32918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6012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60120" y="3886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assessment is attempt № 1.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60120" y="4434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format + pressure + one chance per company. The most expensive first attempt of their lives.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32918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31207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53796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COMMUNICATION IQ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37960" y="3886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assessment is attempt № 15.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4434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simulations kill format shock. Familiarity is the cheapest score improvement that exists.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85800" y="557784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is already proven in India: </a:t>
            </a:r>
            <a:r>
              <a:rPr lang="en-US" sz="140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CATs did exactly this for MBA admissions. Nobody applied it to spoken rounds — until now.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04</a:t>
            </a:r>
            <a:endParaRPr lang="en-US" sz="1200" dirty="0"/>
          </a:p>
        </p:txBody>
      </p:sp>
      <p:pic>
        <p:nvPicPr>
          <p:cNvPr id="6" name="Image 1" descr="s_resp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194054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3774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intelligibility — “were you understood?” — not “do you sound American?” For a student from Warangal or Kanpur, that one design choice decides whether they stay on the platform or abandon it in embarrassment.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85800" y="33832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6012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ACCENT-COACHING SAYS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60120" y="39776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i="1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accent is the problem. Erase it.”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960120" y="4892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Shame in. Dropout out.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63640" y="338328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231207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5379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SAY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37960" y="39776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i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accent is fine. Being understood is the goal — and you are closer than you think.”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37960" y="4892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Dignity in. Practice out.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85800" y="56692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feel-good positioning. Intelligibility is what employers and assessments actually reward — it is the honest metric and the retention strategy at once.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05 · THE CAMPUS SIDE</a:t>
            </a:r>
            <a:endParaRPr lang="en-US" sz="1200" dirty="0"/>
          </a:p>
        </p:txBody>
      </p:sp>
      <p:pic>
        <p:nvPicPr>
          <p:cNvPr id="6" name="Image 1" descr="s_offic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979632" cy="111117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468880"/>
            <a:ext cx="6492240" cy="3017520"/>
          </a:xfrm>
          <a:prstGeom prst="roundRect">
            <a:avLst>
              <a:gd name="adj" fmla="val 2424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60120" y="2670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COMMUNICATION INTELLIGENCE — 90 DAYS BEFORE DRIVES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60120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4,821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6012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468880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A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2,947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46888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977640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1,432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97764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training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486400" y="30632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486400" y="3520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60120" y="3931920"/>
            <a:ext cx="5943600" cy="0"/>
          </a:xfrm>
          <a:prstGeom prst="line">
            <a:avLst/>
          </a:prstGeom>
          <a:noFill/>
          <a:ln w="9525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960120" y="40690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1,120 students likely to struggle in AI spoken rounds.
</a:t>
            </a:r>
            <a:r>
              <a:rPr lang="en-US" sz="115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18 hours of targeted intervention per cohort — assigned, tracked, re-assessed before companies arrive.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543800" y="2468880"/>
            <a:ext cx="3931920" cy="3017520"/>
          </a:xfrm>
          <a:prstGeom prst="roundRect">
            <a:avLst>
              <a:gd name="adj" fmla="val 2424"/>
            </a:avLst>
          </a:prstGeom>
          <a:solidFill>
            <a:srgbClr val="231207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777240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CAMPUS SCALE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772400" y="306324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college-wide in days, not semesters — every student, every branch, on their own phone.
Private, repeatable, unlimited practice — a depth of individual attention that human coaching economics can never reach at cohort scale.
</a:t>
            </a:r>
            <a:r>
              <a:rPr lang="en-US" sz="125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campus can give 4,800 students a human speaking coach. Every campus can give them this.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85800" y="57150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officer stops discovering the problem in the results — and starts fixing it a quarter early.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06 · THE CLOSED LOOP</a:t>
            </a:r>
            <a:endParaRPr lang="en-US" sz="1200" dirty="0"/>
          </a:p>
        </p:txBody>
      </p:sp>
      <p:pic>
        <p:nvPicPr>
          <p:cNvPr id="6" name="Image 1" descr="s_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491230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42316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Communication IQ deploys inside Pyramid's live CRT programs across 30+ colleges, the loop closes: simulation score → real assessment result → interview → placement outcome. Within a few seasons, the platform can tell a student, with data: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85800" y="3383280"/>
            <a:ext cx="10820095" cy="1417320"/>
          </a:xfrm>
          <a:prstGeom prst="roundRect">
            <a:avLst>
              <a:gd name="adj" fmla="val 5161"/>
            </a:avLst>
          </a:prstGeom>
          <a:solidFill>
            <a:srgbClr val="231207"/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097280" y="3383280"/>
            <a:ext cx="99971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3E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“At your current profile, students like you clear the Infosys communication round 82% of the time. Close your fluency gap, and it becomes 91%.”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85800" y="507492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English app on earth can say that sentence today. </a:t>
            </a:r>
            <a:r>
              <a:rPr lang="en-US" sz="14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Duolingo, not ELSA, not any test-prep tool — because none of them see placement outcomes. Pyramid's network is what makes the promise real instead of theoretical.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AS STRATEGY</a:t>
            </a:r>
            <a:endParaRPr lang="en-US" sz="1200" dirty="0"/>
          </a:p>
        </p:txBody>
      </p:sp>
      <p:pic>
        <p:nvPicPr>
          <p:cNvPr id="6" name="Image 1" descr="s_hon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3019395" cy="111117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" y="25146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14400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1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CREATE JOBS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14400" y="34290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campus has 400 offers for 4,000 students, communication readiness reallocates who gets them. It widens an individual's odds, not the national job pool.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434840" y="25146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663440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1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FIX TECHNICAL FAILURE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34290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fails DSA rounds fails regardless of fluency. Pyramid's FORGE/APEX programs cover that side — Communication IQ is the missing sibling, not a replacement.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83880" y="251460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8412480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kern="0" spc="1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GUARANTEE VENDOR SCORES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412480" y="34290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readiness from correlated skills. We never claim to replicate Pearson's or SHL's proprietary algorithms — legally and ethically important.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85800" y="54864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this out loud is what makes placement officers and investors trust the rest of the story.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rk-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82512"/>
            <a:ext cx="182880" cy="219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1832" y="63459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 INNOVATIONS  ·  COMMUNICATION IQ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10957255" y="634593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858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2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TRUTH</a:t>
            </a:r>
            <a:endParaRPr lang="en-US" sz="1200" dirty="0"/>
          </a:p>
        </p:txBody>
      </p:sp>
      <p:pic>
        <p:nvPicPr>
          <p:cNvPr id="6" name="Image 1" descr="s_tru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4845257" cy="11111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242316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fail placements because their English is bad. </a:t>
            </a:r>
            <a:r>
              <a:rPr lang="en-US" sz="17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because nobody ever showed them exactly what the algorithm penalizes — and nobody gave them a cheap, private, repeatable place to fix it. Communication IQ is that place.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85800" y="37033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7140F"/>
          </a:solidFill>
          <a:ln w="12700">
            <a:solidFill>
              <a:srgbClr val="2C272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960120" y="3904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60120" y="42519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rejection → “my English is bad” → avoidance → real test as attempt № 1 → another silent rejection.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37033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231207"/>
          </a:solidFill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537960" y="3904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537960" y="42519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→ named gap → 12–18 targeted hours → real test as attempt № 15 → a fair shot, taken with confidence.</a:t>
            </a:r>
            <a:endParaRPr lang="en-US" sz="1300" dirty="0"/>
          </a:p>
        </p:txBody>
      </p:sp>
      <p:pic>
        <p:nvPicPr>
          <p:cNvPr id="14" name="Image 2" descr="logo-lock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897880"/>
            <a:ext cx="2377440" cy="249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1852</Words>
  <Application>Microsoft Office PowerPoint</Application>
  <PresentationFormat>Widescreen</PresentationFormat>
  <Paragraphs>210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Hitamsu Pamidipati</cp:lastModifiedBy>
  <cp:revision>1</cp:revision>
  <dcterms:created xsi:type="dcterms:W3CDTF">2026-08-11T16:30:58Z</dcterms:created>
  <dcterms:modified xsi:type="dcterms:W3CDTF">2026-08-13T07:52:52Z</dcterms:modified>
</cp:coreProperties>
</file>